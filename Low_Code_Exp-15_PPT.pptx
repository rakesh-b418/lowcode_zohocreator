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051560"/>
            <a:ext cx="2057400" cy="2057400"/>
          </a:xfrm>
          <a:prstGeom prst="ellipse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2423160"/>
            <a:ext cx="1234440" cy="1234440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3246120"/>
            <a:ext cx="960120" cy="960120"/>
          </a:xfrm>
          <a:prstGeom prst="ellipse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931920"/>
            <a:ext cx="658368" cy="658368"/>
          </a:xfrm>
          <a:prstGeom prst="ellipse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4D3BF"/>
                </a:solidFill>
                <a:latin typeface="Aptos"/>
              </a:rPr>
              <a:t>EXP • 15  /  CAREER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94944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>
                <a:solidFill>
                  <a:srgbClr val="F5F8FC"/>
                </a:solidFill>
                <a:latin typeface="Aptos"/>
              </a:rPr>
              <a:t>Career Pathways
&amp; the Future of
Low-Code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6217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B1BED1"/>
                </a:solidFill>
                <a:latin typeface="Aptos"/>
              </a:rPr>
              <a:t>From visual builders to intelligent, integrated business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6766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BE55"/>
                </a:solidFill>
                <a:latin typeface="Aptos"/>
              </a:rPr>
              <a:t>BUILD FAST. THINK DEEP. KEEP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01 /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What is low-code development?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A visual-first approach that speeds up application delivery while keeping room for real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2900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33172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4D3BF"/>
                </a:solidFill>
                <a:latin typeface="Aptos"/>
              </a:rPr>
              <a:t>VISUAL 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07208"/>
            <a:ext cx="304495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Create screens, forms and reports using drag-and-drop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148840"/>
            <a:ext cx="64008" cy="233172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WORKFLOW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304495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Connect actions, approvals, notifications and business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64008" cy="233172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5997FF"/>
                </a:solidFill>
                <a:latin typeface="Aptos"/>
              </a:rPr>
              <a:t>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07208"/>
            <a:ext cx="304495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Extend apps with APIs, scripts, data models and external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The goal is not to remove engineering — it is to reduce repetitive work and focus effort where it matters.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02 /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Four myths about low-code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The platform accelerates delivery; good design and technical judgment still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64008" cy="137160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77"/>
                </a:solidFill>
                <a:latin typeface="Aptos"/>
              </a:rPr>
              <a:t>It will replace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It shifts developers toward design, integration and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1371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17627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E55"/>
                </a:solidFill>
                <a:latin typeface="Aptos"/>
              </a:rPr>
              <a:t>It is only for beginners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67004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Experts use it to deliver faster and save time for hard problems.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64008" cy="137160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6791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5997FF"/>
                </a:solidFill>
                <a:latin typeface="Aptos"/>
              </a:rPr>
              <a:t>No coding is ever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6168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Real apps still use scripting, APIs and careful data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64008" cy="13716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86791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4D3BF"/>
                </a:solidFill>
                <a:latin typeface="Aptos"/>
              </a:rPr>
              <a:t>It only makes toy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36168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Companies run real business processes on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03 / CAREER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One app. Six career pathways.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Example: a Student Skill Development Tracker built for a lab or college.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64008" cy="13716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4D3BF"/>
                </a:solidFill>
                <a:latin typeface="Aptos"/>
              </a:rPr>
              <a:t>Business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2432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Defines which skills to track and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6596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965960"/>
            <a:ext cx="64008" cy="1371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E55"/>
                </a:solidFill>
                <a:latin typeface="Aptos"/>
              </a:rPr>
              <a:t>Low-code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62432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Builds forms, workflows and reports.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64008" cy="137160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5997FF"/>
                </a:solidFill>
                <a:latin typeface="Aptos"/>
              </a:rPr>
              <a:t>Solution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62432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Designs the data model and integrations.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64008" cy="137160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22191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77"/>
                </a:solidFill>
                <a:latin typeface="Aptos"/>
              </a:rPr>
              <a:t>Administrator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1596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Sets roles, permissions and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5760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657600"/>
            <a:ext cx="64008" cy="13716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822191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4D3BF"/>
                </a:solidFill>
                <a:latin typeface="Aptos"/>
              </a:rPr>
              <a:t>Pro-code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31596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Writes scoring functions and custom logic.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57600"/>
            <a:ext cx="342900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57600"/>
            <a:ext cx="64008" cy="1371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822191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E55"/>
                </a:solidFill>
                <a:latin typeface="Aptos"/>
              </a:rPr>
              <a:t>AI developer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315968"/>
            <a:ext cx="304495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Adds an AI assistant for skill advice.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B1BED1"/>
                </a:solidFill>
                <a:latin typeface="Aptos"/>
              </a:rPr>
              <a:t>A single project can showcase analysis, UX, data, automation, security and AI.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04 /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A career ladder in five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Build a foundation, then move toward systems thinking and platform leadership.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1316736" y="2057400"/>
            <a:ext cx="640080" cy="640080"/>
          </a:xfrm>
          <a:prstGeom prst="ellipse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221992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C1426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6815" y="2331720"/>
            <a:ext cx="1664208" cy="45720"/>
          </a:xfrm>
          <a:prstGeom prst="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260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Junior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2057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B1BED1"/>
                </a:solidFill>
                <a:latin typeface="Aptos"/>
              </a:rPr>
              <a:t>Build forms and reports from a specification.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3621024" y="2057400"/>
            <a:ext cx="640080" cy="640080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221992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C1426"/>
                </a:solidFill>
                <a:latin typeface="Aptos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2331720"/>
            <a:ext cx="1664208" cy="45720"/>
          </a:xfrm>
          <a:prstGeom prst="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9260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Low-code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520440"/>
            <a:ext cx="2057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B1BED1"/>
                </a:solidFill>
                <a:latin typeface="Aptos"/>
              </a:rPr>
              <a:t>Own workflows, scripts and deployment.</a:t>
            </a:r>
          </a:p>
        </p:txBody>
      </p:sp>
      <p:sp>
        <p:nvSpPr>
          <p:cNvPr id="17" name="Oval 16"/>
          <p:cNvSpPr/>
          <p:nvPr/>
        </p:nvSpPr>
        <p:spPr>
          <a:xfrm>
            <a:off x="5925312" y="2057400"/>
            <a:ext cx="640080" cy="640080"/>
          </a:xfrm>
          <a:prstGeom prst="ellipse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2221992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C1426"/>
                </a:solidFill>
                <a:latin typeface="Apto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2331720"/>
            <a:ext cx="1664208" cy="45720"/>
          </a:xfrm>
          <a:prstGeom prst="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29260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Integration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3520440"/>
            <a:ext cx="2057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B1BED1"/>
                </a:solidFill>
                <a:latin typeface="Aptos"/>
              </a:rPr>
              <a:t>Connect apps through APIs and platform functions.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2057400"/>
            <a:ext cx="640080" cy="640080"/>
          </a:xfrm>
          <a:prstGeom prst="ellipse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221992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C1426"/>
                </a:solidFill>
                <a:latin typeface="Aptos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331720"/>
            <a:ext cx="1664208" cy="45720"/>
          </a:xfrm>
          <a:prstGeom prst="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2" y="29260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Solution architect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2" y="3520440"/>
            <a:ext cx="2057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B1BED1"/>
                </a:solidFill>
                <a:latin typeface="Aptos"/>
              </a:rPr>
              <a:t>Design secure, scalable systems.</a:t>
            </a:r>
          </a:p>
        </p:txBody>
      </p:sp>
      <p:sp>
        <p:nvSpPr>
          <p:cNvPr id="27" name="Oval 26"/>
          <p:cNvSpPr/>
          <p:nvPr/>
        </p:nvSpPr>
        <p:spPr>
          <a:xfrm>
            <a:off x="10533888" y="2057400"/>
            <a:ext cx="640080" cy="640080"/>
          </a:xfrm>
          <a:prstGeom prst="ellipse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33888" y="2221992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C1426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260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Platform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520440"/>
            <a:ext cx="2057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B1BED1"/>
                </a:solidFill>
                <a:latin typeface="Aptos"/>
              </a:rPr>
              <a:t>Guide governance and a Centre of Excellence.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9496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BE55"/>
                </a:solidFill>
                <a:latin typeface="Aptos"/>
              </a:rPr>
              <a:t>Progress depends on demonstrated skills and project impact—not just job titles.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05 /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Your first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A practical roadmap from platform basics to evidence of job-ready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487168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64008" cy="233172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2103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34D3BF"/>
                </a:solidFill>
                <a:latin typeface="Aptos"/>
              </a:rPr>
              <a:t>Learn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0087"/>
            <a:ext cx="21031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Forms • reports • workflows • Deluge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93392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4D3BF"/>
                </a:solidFill>
                <a:latin typeface="Aptos"/>
              </a:rPr>
              <a:t>MONTHS 1–3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331720"/>
            <a:ext cx="2487168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2331720"/>
            <a:ext cx="64008" cy="233172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496312"/>
            <a:ext cx="2103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BE55"/>
                </a:solidFill>
                <a:latin typeface="Aptos"/>
              </a:rPr>
              <a:t>Build three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90087"/>
            <a:ext cx="21031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Small projects used by real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1993392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BE55"/>
                </a:solidFill>
                <a:latin typeface="Aptos"/>
              </a:rPr>
              <a:t>MONTHS 4–6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31720"/>
            <a:ext cx="2487168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2331720"/>
            <a:ext cx="64008" cy="233172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496312"/>
            <a:ext cx="2103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997FF"/>
                </a:solidFill>
                <a:latin typeface="Aptos"/>
              </a:rPr>
              <a:t>Go deeper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90087"/>
            <a:ext cx="21031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REST APIs • platform functions •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1993392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97FF"/>
                </a:solidFill>
                <a:latin typeface="Aptos"/>
              </a:rPr>
              <a:t>MONTHS 7–9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2331720"/>
            <a:ext cx="2487168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2331720"/>
            <a:ext cx="64008" cy="233172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2496312"/>
            <a:ext cx="2103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7777"/>
                </a:solidFill>
                <a:latin typeface="Aptos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990087"/>
            <a:ext cx="21031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Certification • internship • hackathons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1993392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7777"/>
                </a:solidFill>
                <a:latin typeface="Aptos"/>
              </a:rPr>
              <a:t>MONTHS 10–12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Monthly habit: document what you built, the problem it solves, and what you learned.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06 / BUILD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Four portfolio projects that stand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Choose projects that demonstrate workflow design, data handling, integration and responsible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64008" cy="13716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4D3BF"/>
                </a:solidFill>
                <a:latin typeface="Aptos"/>
              </a:rPr>
              <a:t>01  Skill tracker with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Creator forms plus a custom function that assigns each student a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1371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17627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E55"/>
                </a:solidFill>
                <a:latin typeface="Aptos"/>
              </a:rPr>
              <a:t>02  Vehicle service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67004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Appointments, approvals and status reports for a service centre.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64008" cy="137160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6791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5997FF"/>
                </a:solidFill>
                <a:latin typeface="Aptos"/>
              </a:rPr>
              <a:t>03  Helpdesk with AI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36168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AI suggests a ticket category and a draft reply for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166360" cy="1371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64008" cy="137160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867912"/>
            <a:ext cx="4782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7777"/>
                </a:solidFill>
                <a:latin typeface="Aptos"/>
              </a:rPr>
              <a:t>04  Purchase approvals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361688"/>
            <a:ext cx="478231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Multi-step approvals with role-based dashboards.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B1BED1"/>
                </a:solidFill>
                <a:latin typeface="Aptos"/>
              </a:rPr>
              <a:t>Portfolio tip: include a short demo, architecture sketch, data model, test cases and lessons learned.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07 /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Where low-code is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The direction is toward more AI assistance, stronger integrations and more automated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24612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64008" cy="233172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2862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4D3BF"/>
                </a:solidFill>
                <a:latin typeface="Aptos"/>
              </a:rPr>
              <a:t>Visual 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90087"/>
            <a:ext cx="286207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Templates, scripting and integrations.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93392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4D3BF"/>
                </a:solidFill>
                <a:latin typeface="Aptos"/>
              </a:rPr>
              <a:t>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331720"/>
            <a:ext cx="324612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2331720"/>
            <a:ext cx="64008" cy="233172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496312"/>
            <a:ext cx="2862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AI-assisted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990087"/>
            <a:ext cx="286207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AI drafts forms, workflows and code from plain-language prompts.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93392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BE55"/>
                </a:solidFill>
                <a:latin typeface="Aptos"/>
              </a:rPr>
              <a:t>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331720"/>
            <a:ext cx="3246120" cy="233172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331720"/>
            <a:ext cx="64008" cy="233172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2496312"/>
            <a:ext cx="2862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5997FF"/>
                </a:solidFill>
                <a:latin typeface="Aptos"/>
              </a:rPr>
              <a:t>Agent-enabled 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90087"/>
            <a:ext cx="2862072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AI agents may handle parts of business processes with human oversight.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93392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97FF"/>
                </a:solidFill>
                <a:latin typeface="Aptos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Future-ready skills: prompt design • API literacy • data quality • security • human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08 / CHOOSING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Low-code or pro-code?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The best solution depends on the problem, not on a preference for one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074920" cy="2514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4008" cy="25146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34D3BF"/>
                </a:solidFill>
                <a:latin typeface="Aptos"/>
              </a:rPr>
              <a:t>CHOOSE LOW-CODE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07208"/>
            <a:ext cx="4690872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Forms and approvals
• Speed matters most
• Business users need to adjust workflows
• Standard integrations cover the 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074920" cy="251460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64008" cy="2514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31343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BE55"/>
                </a:solidFill>
                <a:latin typeface="Aptos"/>
              </a:rPr>
              <a:t>CHOOSE PRO-CODE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807208"/>
            <a:ext cx="4690872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Very high-load or real-time systems
• Heavy algorithms or custom logic
• Full control of hosting and runtime
• Specialized performance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Hybrid is common: build the workflow visually and use code for complex logic or integrations.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D3BF"/>
                </a:solidFill>
                <a:latin typeface="Aptos"/>
              </a:rPr>
              <a:t>09 / SKILLS THAT COMPOUND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The skills behind a strong low-code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988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ED1"/>
                </a:solidFill>
                <a:latin typeface="Aptos"/>
              </a:rPr>
              <a:t>Platform knowledge opens the door; engineering fundamentals help you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BE55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64008" cy="132588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34D3BF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2432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Model entities, relationships, validation and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6596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965960"/>
            <a:ext cx="64008" cy="132588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BE55"/>
                </a:solidFill>
                <a:latin typeface="Aptos"/>
              </a:rPr>
              <a:t>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62432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Connect services and handle errors reliably.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64008" cy="132588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13055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7777"/>
                </a:solidFill>
                <a:latin typeface="Aptos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62432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Use least privilege, secure secrets and test permissions.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11880"/>
            <a:ext cx="64008" cy="132588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77647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5997FF"/>
                </a:solidFill>
                <a:latin typeface="Aptos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27024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Verify edge cases, workflows and user journeys.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1188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611880"/>
            <a:ext cx="64008" cy="132588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77647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34D3BF"/>
                </a:solidFill>
                <a:latin typeface="Aptos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27024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Evaluate outputs, protect data and keep humans in the loop.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11880"/>
            <a:ext cx="3429000" cy="132588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64008" cy="132588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77647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BE55"/>
                </a:solidFill>
                <a:latin typeface="Aptos"/>
              </a:rPr>
              <a:t>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270248"/>
            <a:ext cx="3044952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Translate business needs into clear requirements.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4D3BF"/>
                </a:solidFill>
                <a:latin typeface="Aptos"/>
              </a:rPr>
              <a:t>TAKEAWAY / EXP–15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Build fast.
Then go deep.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6675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B1BED1"/>
                </a:solidFill>
                <a:latin typeface="Aptos"/>
              </a:rPr>
              <a:t>The strongest low-code careers combine quick delivery with real skill in data, APIs, security and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08760"/>
            <a:ext cx="3291840" cy="105156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1508760"/>
            <a:ext cx="64008" cy="1051560"/>
          </a:xfrm>
          <a:prstGeom prst="rect">
            <a:avLst/>
          </a:prstGeom>
          <a:solidFill>
            <a:srgbClr val="34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1673351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4D3BF"/>
                </a:solidFill>
                <a:latin typeface="Aptos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2167128"/>
            <a:ext cx="2907792" cy="283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Master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788920"/>
            <a:ext cx="3291840" cy="105156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788920"/>
            <a:ext cx="64008" cy="105156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953512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BE55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3447287"/>
            <a:ext cx="2907792" cy="283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Ship useful projects.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69080"/>
            <a:ext cx="3291840" cy="1051560"/>
          </a:xfrm>
          <a:prstGeom prst="roundRect">
            <a:avLst/>
          </a:prstGeom>
          <a:solidFill>
            <a:srgbClr val="162239"/>
          </a:solidFill>
          <a:ln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4069080"/>
            <a:ext cx="64008" cy="105156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4233672"/>
            <a:ext cx="2907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5997FF"/>
                </a:solidFill>
                <a:latin typeface="Aptos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4727448"/>
            <a:ext cx="2907792" cy="283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Show your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BE55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1BED1"/>
                </a:solidFill>
                <a:latin typeface="Aptos"/>
              </a:rPr>
              <a:t>EXP–15  •  CAREER PATHWAYS &amp; LOW-CODE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1BED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